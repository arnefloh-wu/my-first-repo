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Masterarbeitsthemen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4B4C8"/>
                </a:solidFill>
                <a:latin typeface="Calibri"/>
              </a:rPr>
              <a:t>Betreute Abschlussarbeiten · Ausschreibung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4023360" cy="329184"/>
          </a:xfrm>
          <a:prstGeom prst="rect">
            <a:avLst/>
          </a:prstGeom>
          <a:solidFill>
            <a:srgbClr val="323250"/>
          </a:solidFill>
          <a:ln w="6350">
            <a:solidFill>
              <a:srgbClr val="64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C547"/>
                </a:solidFill>
                <a:latin typeface="Calibri"/>
              </a:rPr>
              <a:t>✦  Themen 1 &amp; 2 in Kooperation mit  NEOH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91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CAA"/>
                </a:solidFill>
                <a:latin typeface="Calibri"/>
              </a:rPr>
              <a:t>1 /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27048"/>
            <a:ext cx="11274552" cy="1615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18488"/>
            <a:ext cx="457200" cy="1615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7D7D7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1618488"/>
            <a:ext cx="1920240" cy="23774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16550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06400"/>
                </a:solidFill>
                <a:latin typeface="Calibri"/>
              </a:rPr>
              <a:t>WERBEWIRKUNGSFORSCHUNG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87452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Werbewirkungsmessung einer NEOH TV-Kampagne auf dem deutschen Markt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185416"/>
            <a:ext cx="10561320" cy="90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80"/>
                </a:solidFill>
                <a:latin typeface="Calibri"/>
              </a:rPr>
              <a:t>Empirische Analyse der Werbewirkung einer NEOH Fernsehwerbekampagne in Deutschland — inkl. Messung von Bekanntheit, Einstellungsänderung und Kaufabsicht anhand geeigneter Wirkungsmodelle und Methoden der Marktforschung.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3928"/>
            <a:ext cx="11274552" cy="1615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5368"/>
            <a:ext cx="457200" cy="1615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7D7D7"/>
                </a:solidFill>
                <a:latin typeface="Calibri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" y="3325368"/>
            <a:ext cx="1920240" cy="23774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36194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06400"/>
                </a:solidFill>
                <a:latin typeface="Calibri"/>
              </a:rPr>
              <a:t>MARKETING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58140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Marketing Mix Modelling für NEOH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892296"/>
            <a:ext cx="10561320" cy="90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80"/>
                </a:solidFill>
                <a:latin typeface="Calibri"/>
              </a:rPr>
              <a:t>Entwicklung und Anwendung eines Marketing Mix Models zur quantitativen Analyse der Treiber von Absatz und Umsatz bei NEOH — inkl. Dekomposition des Mediamix, ROI-Messung einzelner Kanäle, Handlungsempfehlungen für die Budgetallokation sowie Länderbudgetallokation.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40808"/>
            <a:ext cx="11274552" cy="161544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032248"/>
            <a:ext cx="457200" cy="1615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7D7D7"/>
                </a:solidFill>
                <a:latin typeface="Calibri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24128" y="5032248"/>
            <a:ext cx="1920240" cy="237744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0688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6FA8"/>
                </a:solidFill>
                <a:latin typeface="Calibri"/>
              </a:rPr>
              <a:t>AI &amp; 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28828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Artificial Intelligence in (International) Marketing &amp; Business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5599176"/>
            <a:ext cx="10561320" cy="902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80"/>
                </a:solidFill>
                <a:latin typeface="Calibri"/>
              </a:rPr>
              <a:t>Empirische Untersuchung des Einsatzes und der Wirkung von KI-Technologien im Marketing und internationalen Geschäftsumfeld — z. B. Personalisierung, Automatisierung, generative KI oder KI-gestützte Entscheidungsprozesse.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385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Kooperationspartner: NEOH GmbH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60152" y="66385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  <a:latin typeface="Calibri"/>
              </a:rPr>
              <a:t>Stand: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74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Masterarbeitsthemen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4B4C8"/>
                </a:solidFill>
                <a:latin typeface="Calibri"/>
              </a:rPr>
              <a:t>Betreute Abschlussarbeiten · Ausschreibung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91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CAA"/>
                </a:solidFill>
                <a:latin typeface="Calibri"/>
              </a:rPr>
              <a:t>2 / 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27048"/>
            <a:ext cx="1127455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4572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7D7D7"/>
                </a:solidFill>
                <a:latin typeface="Calibri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4128" y="1618488"/>
            <a:ext cx="1920240" cy="237744"/>
          </a:xfrm>
          <a:prstGeom prst="rect">
            <a:avLst/>
          </a:prstGeom>
          <a:solidFill>
            <a:srgbClr val="EA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6550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E7E46"/>
                </a:solidFill>
                <a:latin typeface="Calibri"/>
              </a:rPr>
              <a:t>BRAND GROWTH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874520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How Small Brands Grow (Internationally)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85416"/>
            <a:ext cx="10561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80"/>
                </a:solidFill>
                <a:latin typeface="Calibri"/>
              </a:rPr>
              <a:t>Empirische Analyse der Wachstumsstrategien kleiner Marken im nationalen und internationalen Kontext — unter Berücksichtigung von Markenbekanntheit, Distributionsaufbau, Positionierung und den Gesetzmäßigkeiten des empirischen Marketings (z. B. Ehrenberg-Bass).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44952"/>
            <a:ext cx="1127455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136392"/>
            <a:ext cx="4572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7D7D7"/>
                </a:solidFill>
                <a:latin typeface="Calibri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136392"/>
            <a:ext cx="1920240" cy="237744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1729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43C3C"/>
                </a:solidFill>
                <a:latin typeface="Calibri"/>
              </a:rPr>
              <a:t>BRAND COMMUNICATIONS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392424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(International) Brand Communications: Brand Engagement &amp; Brand Communities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703320"/>
            <a:ext cx="10561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80"/>
                </a:solidFill>
                <a:latin typeface="Calibri"/>
              </a:rPr>
              <a:t>Empirische Untersuchung internationaler Markenkommunikation mit Fokus auf Brand Engagement und Brand Communities — z. B. Aufbau und Pflege von Markengemeinschaften, Engagement-Treiber und deren Wirkung auf Markenloyalität und -identifikation.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62856"/>
            <a:ext cx="11274552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654296"/>
            <a:ext cx="457200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D7D7D7"/>
                </a:solidFill>
                <a:latin typeface="Calibri"/>
              </a:rPr>
              <a:t>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654296"/>
            <a:ext cx="1920240" cy="237744"/>
          </a:xfrm>
          <a:prstGeom prst="rect">
            <a:avLst/>
          </a:prstGeom>
          <a:solidFill>
            <a:srgbClr val="F3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69087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B3FA0"/>
                </a:solidFill>
                <a:latin typeface="Calibri"/>
              </a:rPr>
              <a:t>REPLIKATION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910328"/>
            <a:ext cx="10561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Calibri"/>
              </a:rPr>
              <a:t>Replikationsstudien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221224"/>
            <a:ext cx="105613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A6A80"/>
                </a:solidFill>
                <a:latin typeface="Calibri"/>
              </a:rPr>
              <a:t>Empirische Replikation bestehender Studien aus dem Bereich Marketing oder internationales Business — zur Überprüfung der Generalisierbarkeit von Befunden in neuen Kontexten, Märkten oder Zeiträumen.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035040"/>
            <a:ext cx="11274552" cy="493776"/>
          </a:xfrm>
          <a:prstGeom prst="rect">
            <a:avLst/>
          </a:prstGeom>
          <a:solidFill>
            <a:srgbClr val="F7F8FA"/>
          </a:solidFill>
          <a:ln w="9525">
            <a:solidFill>
              <a:srgbClr val="E4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080760"/>
            <a:ext cx="1127455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8A96A8"/>
                </a:solidFill>
                <a:latin typeface="Calibri"/>
              </a:rPr>
              <a:t>ALLGEMEINE HINWEISE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5449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Calibri"/>
              </a:rPr>
              <a:t>✦  Es werden nur empirische Arbeiten betreut (qualitativ oder quantitativ).    ✦  Die Arbeiten können auf Deutsch oder Englisch verfasst werden.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385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  <a:latin typeface="Calibri"/>
              </a:rPr>
              <a:t>Kooperationspartner: NEOH GmbH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66385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AAAA"/>
                </a:solidFill>
                <a:latin typeface="Calibri"/>
              </a:rPr>
              <a:t>Stand: Mai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