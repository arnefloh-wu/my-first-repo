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4173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7455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alibri"/>
              </a:rPr>
              <a:t>Masterarbeitsthemen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03504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B4B4C8"/>
                </a:solidFill>
                <a:latin typeface="Calibri"/>
              </a:rPr>
              <a:t>Betreute Abschlussarbeiten · Ausschreibung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50976"/>
            <a:ext cx="4023360" cy="329184"/>
          </a:xfrm>
          <a:prstGeom prst="rect">
            <a:avLst/>
          </a:prstGeom>
          <a:solidFill>
            <a:srgbClr val="323250"/>
          </a:solidFill>
          <a:ln w="6350">
            <a:solidFill>
              <a:srgbClr val="6464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005840"/>
            <a:ext cx="3840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8C547"/>
                </a:solidFill>
                <a:latin typeface="Calibri"/>
              </a:rPr>
              <a:t>✦  Themen 1 &amp; 2 in Kooperation mit  NEOH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1672" y="914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C8CAA"/>
                </a:solidFill>
                <a:latin typeface="Calibri"/>
              </a:rPr>
              <a:t>1 / 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527048"/>
            <a:ext cx="11274552" cy="1615440"/>
          </a:xfrm>
          <a:prstGeom prst="rect">
            <a:avLst/>
          </a:prstGeom>
          <a:solidFill>
            <a:srgbClr val="FFFFFF"/>
          </a:solidFill>
          <a:ln w="9525">
            <a:solidFill>
              <a:srgbClr val="DC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618488"/>
            <a:ext cx="457200" cy="1615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D7D7D7"/>
                </a:solidFill>
                <a:latin typeface="Calibri"/>
              </a:rPr>
              <a:t>01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24128" y="1618488"/>
            <a:ext cx="1920240" cy="237744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5568" y="1655064"/>
            <a:ext cx="1920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A06400"/>
                </a:solidFill>
                <a:latin typeface="Calibri"/>
              </a:rPr>
              <a:t>WERBEWIRKUNGSFORSCHUNG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1874520"/>
            <a:ext cx="10561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1A2E"/>
                </a:solidFill>
                <a:latin typeface="Calibri"/>
              </a:rPr>
              <a:t>Werbewirkungsmessung einer NEOH TV-Kampagne auf dem deutschen Markt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" y="2185416"/>
            <a:ext cx="10561320" cy="902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A6A80"/>
                </a:solidFill>
                <a:latin typeface="Calibri"/>
              </a:rPr>
              <a:t>Empirische Analyse der Werbewirkung einer NEOH Fernsehwerbekampagne in Deutschland — inkl. Messung von Bekanntheit, Einstellungsänderung und Kaufabsicht anhand geeigneter Wirkungsmodelle und Methoden der Marktforschung.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233928"/>
            <a:ext cx="11274552" cy="1615440"/>
          </a:xfrm>
          <a:prstGeom prst="rect">
            <a:avLst/>
          </a:prstGeom>
          <a:solidFill>
            <a:srgbClr val="FFFFFF"/>
          </a:solidFill>
          <a:ln w="9525">
            <a:solidFill>
              <a:srgbClr val="DC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3325368"/>
            <a:ext cx="457200" cy="1615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D7D7D7"/>
                </a:solidFill>
                <a:latin typeface="Calibri"/>
              </a:rPr>
              <a:t>02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24128" y="3325368"/>
            <a:ext cx="1920240" cy="237744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15568" y="3361944"/>
            <a:ext cx="1920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A06400"/>
                </a:solidFill>
                <a:latin typeface="Calibri"/>
              </a:rPr>
              <a:t>MARKETING ANALYTICS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4128" y="3581400"/>
            <a:ext cx="10561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1A2E"/>
                </a:solidFill>
                <a:latin typeface="Calibri"/>
              </a:rPr>
              <a:t>Marketing Mix Modelling für NEOH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4128" y="3892296"/>
            <a:ext cx="10561320" cy="902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A6A80"/>
                </a:solidFill>
                <a:latin typeface="Calibri"/>
              </a:rPr>
              <a:t>Entwicklung und Anwendung eines Marketing Mix Models zur quantitativen Analyse der Treiber von Absatz und Umsatz bei NEOH — inkl. Dekomposition des Mediamix, ROI-Messung einzelner Kanäle, Handlungsempfehlungen für die Budgetallokation sowie Länderbudgetallokation.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940808"/>
            <a:ext cx="11274552" cy="1615440"/>
          </a:xfrm>
          <a:prstGeom prst="rect">
            <a:avLst/>
          </a:prstGeom>
          <a:solidFill>
            <a:srgbClr val="FFFFFF"/>
          </a:solidFill>
          <a:ln w="9525">
            <a:solidFill>
              <a:srgbClr val="DC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5032248"/>
            <a:ext cx="457200" cy="1615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D7D7D7"/>
                </a:solidFill>
                <a:latin typeface="Calibri"/>
              </a:rPr>
              <a:t>03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24128" y="5032248"/>
            <a:ext cx="1920240" cy="237744"/>
          </a:xfrm>
          <a:prstGeom prst="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15568" y="5068824"/>
            <a:ext cx="1920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A6FA8"/>
                </a:solidFill>
                <a:latin typeface="Calibri"/>
              </a:rPr>
              <a:t>AI &amp; MARKETING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4128" y="5288280"/>
            <a:ext cx="10561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1A2E"/>
                </a:solidFill>
                <a:latin typeface="Calibri"/>
              </a:rPr>
              <a:t>Artificial Intelligence in (International) Marketing &amp; Business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4128" y="5599176"/>
            <a:ext cx="10561320" cy="902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A6A80"/>
                </a:solidFill>
                <a:latin typeface="Calibri"/>
              </a:rPr>
              <a:t>Empirische Untersuchung des Einsatzes und der Wirkung von KI-Technologien im Marketing und internationalen Geschäftsumfeld — z. B. Personalisierung, Automatisierung, generative KI oder KI-gestützte Entscheidungsprozesse.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F7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6638544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AAAAAA"/>
                </a:solidFill>
                <a:latin typeface="Calibri"/>
              </a:rPr>
              <a:t>Kooperationspartner: NEOH GmbH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360152" y="6638544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AAAAAA"/>
                </a:solidFill>
                <a:latin typeface="Calibri"/>
              </a:rPr>
              <a:t>Stand: Mai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4173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7455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alibri"/>
              </a:rPr>
              <a:t>Masterarbeitsthemen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03504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B4B4C8"/>
                </a:solidFill>
                <a:latin typeface="Calibri"/>
              </a:rPr>
              <a:t>Betreute Abschlussarbeiten · Ausschreibung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1672" y="914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C8CAA"/>
                </a:solidFill>
                <a:latin typeface="Calibri"/>
              </a:rPr>
              <a:t>2 / 2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527048"/>
            <a:ext cx="11274552" cy="1426464"/>
          </a:xfrm>
          <a:prstGeom prst="rect">
            <a:avLst/>
          </a:prstGeom>
          <a:solidFill>
            <a:srgbClr val="FFFFFF"/>
          </a:solidFill>
          <a:ln w="9525">
            <a:solidFill>
              <a:srgbClr val="DC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618488"/>
            <a:ext cx="457200" cy="1426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D7D7D7"/>
                </a:solidFill>
                <a:latin typeface="Calibri"/>
              </a:rPr>
              <a:t>04</a:t>
            </a:r>
          </a:p>
        </p:txBody>
      </p:sp>
      <p:sp>
        <p:nvSpPr>
          <p:cNvPr id="8" name="Rectangle 7"/>
          <p:cNvSpPr/>
          <p:nvPr/>
        </p:nvSpPr>
        <p:spPr>
          <a:xfrm>
            <a:off x="1024128" y="1618488"/>
            <a:ext cx="1920240" cy="237744"/>
          </a:xfrm>
          <a:prstGeom prst="rect">
            <a:avLst/>
          </a:prstGeom>
          <a:solidFill>
            <a:srgbClr val="EA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15568" y="1655064"/>
            <a:ext cx="1920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E7E46"/>
                </a:solidFill>
                <a:latin typeface="Calibri"/>
              </a:rPr>
              <a:t>BRAND GROWTH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1874520"/>
            <a:ext cx="10561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1A2E"/>
                </a:solidFill>
                <a:latin typeface="Calibri"/>
              </a:rPr>
              <a:t>How Small Brands Grow (Internationally)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" y="2185416"/>
            <a:ext cx="1056132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A6A80"/>
                </a:solidFill>
                <a:latin typeface="Calibri"/>
              </a:rPr>
              <a:t>Empirische Analyse der Wachstumsstrategien kleiner Marken im nationalen und internationalen Kontext — unter Berücksichtigung von Markenbekanntheit, Distributionsaufbau, Positionierung und den Gesetzmäßigkeiten des empirischen Marketings (z. B. Ehrenberg-Bass).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044952"/>
            <a:ext cx="11274552" cy="1426464"/>
          </a:xfrm>
          <a:prstGeom prst="rect">
            <a:avLst/>
          </a:prstGeom>
          <a:solidFill>
            <a:srgbClr val="FFFFFF"/>
          </a:solidFill>
          <a:ln w="9525">
            <a:solidFill>
              <a:srgbClr val="DC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3136392"/>
            <a:ext cx="457200" cy="1426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D7D7D7"/>
                </a:solidFill>
                <a:latin typeface="Calibri"/>
              </a:rPr>
              <a:t>05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24128" y="3136392"/>
            <a:ext cx="1920240" cy="237744"/>
          </a:xfrm>
          <a:prstGeom prst="rect">
            <a:avLst/>
          </a:prstGeom>
          <a:solidFill>
            <a:srgbClr val="FFE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15568" y="3172968"/>
            <a:ext cx="1920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B43C3C"/>
                </a:solidFill>
                <a:latin typeface="Calibri"/>
              </a:rPr>
              <a:t>BRAND COMMUNICATIONS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4128" y="3392424"/>
            <a:ext cx="10561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1A2E"/>
                </a:solidFill>
                <a:latin typeface="Calibri"/>
              </a:rPr>
              <a:t>(International) Brand Communications: Brand Engagement &amp; Brand Communities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4128" y="3703320"/>
            <a:ext cx="1056132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A6A80"/>
                </a:solidFill>
                <a:latin typeface="Calibri"/>
              </a:rPr>
              <a:t>Empirische Untersuchung internationaler Markenkommunikation mit Fokus auf Brand Engagement und Brand Communities — z. B. Aufbau und Pflege von Markengemeinschaften, Engagement-Treiber und deren Wirkung auf Markenloyalität und -identifikation.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562856"/>
            <a:ext cx="11274552" cy="1426464"/>
          </a:xfrm>
          <a:prstGeom prst="rect">
            <a:avLst/>
          </a:prstGeom>
          <a:solidFill>
            <a:srgbClr val="FFFFFF"/>
          </a:solidFill>
          <a:ln w="9525">
            <a:solidFill>
              <a:srgbClr val="DC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4654296"/>
            <a:ext cx="457200" cy="1426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D7D7D7"/>
                </a:solidFill>
                <a:latin typeface="Calibri"/>
              </a:rPr>
              <a:t>06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24128" y="4654296"/>
            <a:ext cx="1920240" cy="237744"/>
          </a:xfrm>
          <a:prstGeom prst="rect">
            <a:avLst/>
          </a:prstGeom>
          <a:solidFill>
            <a:srgbClr val="F3E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15568" y="4690872"/>
            <a:ext cx="1920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6B3FA0"/>
                </a:solidFill>
                <a:latin typeface="Calibri"/>
              </a:rPr>
              <a:t>REPLIKATION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4128" y="4910328"/>
            <a:ext cx="10561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1A2E"/>
                </a:solidFill>
                <a:latin typeface="Calibri"/>
              </a:rPr>
              <a:t>Replikationsstudien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4128" y="5221224"/>
            <a:ext cx="1056132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A6A80"/>
                </a:solidFill>
                <a:latin typeface="Calibri"/>
              </a:rPr>
              <a:t>Empirische Replikation bestehender Studien aus dem Bereich Marketing oder internationales Business — zur Überprüfung der Generalisierbarkeit von Befunden in neuen Kontexten, Märkten oder Zeiträumen.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6035040"/>
            <a:ext cx="11274552" cy="493776"/>
          </a:xfrm>
          <a:prstGeom prst="rect">
            <a:avLst/>
          </a:prstGeom>
          <a:solidFill>
            <a:srgbClr val="F7F8FA"/>
          </a:solidFill>
          <a:ln w="9525">
            <a:solidFill>
              <a:srgbClr val="E4E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6080760"/>
            <a:ext cx="11274552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8A96A8"/>
                </a:solidFill>
                <a:latin typeface="Calibri"/>
              </a:rPr>
              <a:t>ALLGEMEINE HINWEISE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6254496"/>
            <a:ext cx="112745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A5568"/>
                </a:solidFill>
                <a:latin typeface="Calibri"/>
              </a:rPr>
              <a:t>✦  Es werden nur empirische Arbeiten betreut (qualitativ oder quantitativ).    ✦  Die Arbeiten können auf Deutsch oder Englisch verfasst werden.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F7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" y="6638544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AAAAAA"/>
                </a:solidFill>
                <a:latin typeface="Calibri"/>
              </a:rPr>
              <a:t>Kooperationspartner: NEOH GmbH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360152" y="6638544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AAAAAA"/>
                </a:solidFill>
                <a:latin typeface="Calibri"/>
              </a:rPr>
              <a:t>Stand: Mai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